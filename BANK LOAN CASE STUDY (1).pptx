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Dream Avenue" panose="020B0604020202020204" charset="0"/>
      <p:regular r:id="rId16"/>
    </p:embeddedFont>
    <p:embeddedFont>
      <p:font typeface="Lora" pitchFamily="2" charset="0"/>
      <p:regular r:id="rId17"/>
    </p:embeddedFont>
    <p:embeddedFont>
      <p:font typeface="Lora Bold" charset="0"/>
      <p:regular r:id="rId18"/>
    </p:embeddedFont>
    <p:embeddedFont>
      <p:font typeface="TAN Pearl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5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77281" y="0"/>
            <a:ext cx="3088591" cy="10287000"/>
            <a:chOff x="0" y="0"/>
            <a:chExt cx="81345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3456" cy="2709333"/>
            </a:xfrm>
            <a:custGeom>
              <a:avLst/>
              <a:gdLst/>
              <a:ahLst/>
              <a:cxnLst/>
              <a:rect l="l" t="t" r="r" b="b"/>
              <a:pathLst>
                <a:path w="813456" h="2709333">
                  <a:moveTo>
                    <a:pt x="0" y="0"/>
                  </a:moveTo>
                  <a:lnTo>
                    <a:pt x="813456" y="0"/>
                  </a:lnTo>
                  <a:lnTo>
                    <a:pt x="8134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345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3725255" y="7105272"/>
            <a:ext cx="7450509" cy="7450509"/>
          </a:xfrm>
          <a:custGeom>
            <a:avLst/>
            <a:gdLst/>
            <a:ahLst/>
            <a:cxnLst/>
            <a:rect l="l" t="t" r="r" b="b"/>
            <a:pathLst>
              <a:path w="7450509" h="7450509">
                <a:moveTo>
                  <a:pt x="0" y="0"/>
                </a:moveTo>
                <a:lnTo>
                  <a:pt x="7450510" y="0"/>
                </a:lnTo>
                <a:lnTo>
                  <a:pt x="7450510" y="7450510"/>
                </a:lnTo>
                <a:lnTo>
                  <a:pt x="0" y="7450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06625" y="-4304799"/>
            <a:ext cx="7450509" cy="7450509"/>
          </a:xfrm>
          <a:custGeom>
            <a:avLst/>
            <a:gdLst/>
            <a:ahLst/>
            <a:cxnLst/>
            <a:rect l="l" t="t" r="r" b="b"/>
            <a:pathLst>
              <a:path w="7450509" h="7450509">
                <a:moveTo>
                  <a:pt x="0" y="0"/>
                </a:moveTo>
                <a:lnTo>
                  <a:pt x="7450509" y="0"/>
                </a:lnTo>
                <a:lnTo>
                  <a:pt x="7450509" y="7450509"/>
                </a:lnTo>
                <a:lnTo>
                  <a:pt x="0" y="745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08672" y="2072210"/>
            <a:ext cx="5726183" cy="6696432"/>
          </a:xfrm>
          <a:custGeom>
            <a:avLst/>
            <a:gdLst/>
            <a:ahLst/>
            <a:cxnLst/>
            <a:rect l="l" t="t" r="r" b="b"/>
            <a:pathLst>
              <a:path w="5726183" h="6696432">
                <a:moveTo>
                  <a:pt x="0" y="0"/>
                </a:moveTo>
                <a:lnTo>
                  <a:pt x="5726183" y="0"/>
                </a:lnTo>
                <a:lnTo>
                  <a:pt x="5726183" y="6696432"/>
                </a:lnTo>
                <a:lnTo>
                  <a:pt x="0" y="6696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267" r="-1326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80871" y="2196035"/>
            <a:ext cx="5186467" cy="6572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50"/>
              </a:lnSpc>
            </a:pPr>
            <a:r>
              <a:rPr lang="en-US" sz="11898" spc="392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BANK LOAN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92057" y="388078"/>
            <a:ext cx="17892869" cy="9339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5"/>
              </a:lnSpc>
            </a:pPr>
            <a:r>
              <a:rPr lang="en-US" sz="8804" spc="114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CONTENTS</a:t>
            </a:r>
          </a:p>
          <a:p>
            <a:pPr marL="1900839" lvl="1" indent="-950419" algn="l">
              <a:lnSpc>
                <a:spcPts val="12325"/>
              </a:lnSpc>
              <a:buFont typeface="Arial"/>
              <a:buChar char="•"/>
            </a:pPr>
            <a:r>
              <a:rPr lang="en-US" sz="8804" spc="114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PROJECT DESCRIPTION</a:t>
            </a:r>
          </a:p>
          <a:p>
            <a:pPr marL="1900839" lvl="1" indent="-950419" algn="l">
              <a:lnSpc>
                <a:spcPts val="12325"/>
              </a:lnSpc>
              <a:buFont typeface="Arial"/>
              <a:buChar char="•"/>
            </a:pPr>
            <a:r>
              <a:rPr lang="en-US" sz="8804" spc="114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APPROACH</a:t>
            </a:r>
          </a:p>
          <a:p>
            <a:pPr marL="1900839" lvl="1" indent="-950419" algn="l">
              <a:lnSpc>
                <a:spcPts val="12325"/>
              </a:lnSpc>
              <a:buFont typeface="Arial"/>
              <a:buChar char="•"/>
            </a:pPr>
            <a:r>
              <a:rPr lang="en-US" sz="8804" spc="114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TECH STACK USED</a:t>
            </a:r>
          </a:p>
          <a:p>
            <a:pPr marL="1900839" lvl="1" indent="-950419" algn="l">
              <a:lnSpc>
                <a:spcPts val="12325"/>
              </a:lnSpc>
              <a:buFont typeface="Arial"/>
              <a:buChar char="•"/>
            </a:pPr>
            <a:r>
              <a:rPr lang="en-US" sz="8804" spc="114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INSIGHTS</a:t>
            </a:r>
          </a:p>
          <a:p>
            <a:pPr marL="1900839" lvl="1" indent="-950419" algn="l">
              <a:lnSpc>
                <a:spcPts val="12325"/>
              </a:lnSpc>
              <a:buFont typeface="Arial"/>
              <a:buChar char="•"/>
            </a:pPr>
            <a:r>
              <a:rPr lang="en-US" sz="8804" spc="114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RESULTS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877281" y="0"/>
            <a:ext cx="3088591" cy="10287000"/>
            <a:chOff x="0" y="0"/>
            <a:chExt cx="81345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3456" cy="2709333"/>
            </a:xfrm>
            <a:custGeom>
              <a:avLst/>
              <a:gdLst/>
              <a:ahLst/>
              <a:cxnLst/>
              <a:rect l="l" t="t" r="r" b="b"/>
              <a:pathLst>
                <a:path w="813456" h="2709333">
                  <a:moveTo>
                    <a:pt x="0" y="0"/>
                  </a:moveTo>
                  <a:lnTo>
                    <a:pt x="813456" y="0"/>
                  </a:lnTo>
                  <a:lnTo>
                    <a:pt x="8134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1345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-2421094" y="4207228"/>
            <a:ext cx="8543440" cy="1872544"/>
          </a:xfrm>
          <a:custGeom>
            <a:avLst/>
            <a:gdLst/>
            <a:ahLst/>
            <a:cxnLst/>
            <a:rect l="l" t="t" r="r" b="b"/>
            <a:pathLst>
              <a:path w="8543440" h="1872544">
                <a:moveTo>
                  <a:pt x="0" y="0"/>
                </a:moveTo>
                <a:lnTo>
                  <a:pt x="8543440" y="0"/>
                </a:lnTo>
                <a:lnTo>
                  <a:pt x="8543440" y="1872544"/>
                </a:lnTo>
                <a:lnTo>
                  <a:pt x="0" y="1872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38523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3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1943" y="315345"/>
            <a:ext cx="18064113" cy="13128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35"/>
              </a:lnSpc>
            </a:pPr>
            <a:r>
              <a:rPr lang="en-US" sz="6423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PROJECT DESCRIPTION</a:t>
            </a:r>
          </a:p>
          <a:p>
            <a:pPr algn="ctr">
              <a:lnSpc>
                <a:spcPts val="6763"/>
              </a:lnSpc>
            </a:pPr>
            <a:r>
              <a:rPr lang="en-US" sz="412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This project aims to explore the deep analysis of bank loan to understand what goes behind it </a:t>
            </a:r>
          </a:p>
          <a:p>
            <a:pPr algn="ctr">
              <a:lnSpc>
                <a:spcPts val="6763"/>
              </a:lnSpc>
            </a:pPr>
            <a:r>
              <a:rPr lang="en-US" sz="412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our main task is to use EDA(exploratory data analysis) to analyze patterns in the data and ensure that capable applicants are not rejected.</a:t>
            </a:r>
          </a:p>
          <a:p>
            <a:pPr algn="ctr">
              <a:lnSpc>
                <a:spcPts val="6763"/>
              </a:lnSpc>
            </a:pPr>
            <a:r>
              <a:rPr lang="en-US" sz="412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When a customer applies for a loan, we might possibly face two risks:</a:t>
            </a:r>
          </a:p>
          <a:p>
            <a:pPr marL="890364" lvl="1" indent="-445182" algn="ctr">
              <a:lnSpc>
                <a:spcPts val="6763"/>
              </a:lnSpc>
              <a:buAutoNum type="arabicPeriod"/>
            </a:pPr>
            <a:r>
              <a:rPr lang="en-US" sz="412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If the applicant can repay the loan but is not approved, the company loses business.</a:t>
            </a:r>
          </a:p>
          <a:p>
            <a:pPr marL="890364" lvl="1" indent="-445182" algn="ctr">
              <a:lnSpc>
                <a:spcPts val="6763"/>
              </a:lnSpc>
              <a:buAutoNum type="arabicPeriod"/>
            </a:pPr>
            <a:r>
              <a:rPr lang="en-US" sz="412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If the applicant cannot repay the loan and is approved, the company faces a financial loss.</a:t>
            </a:r>
          </a:p>
          <a:p>
            <a:pPr algn="ctr">
              <a:lnSpc>
                <a:spcPts val="5943"/>
              </a:lnSpc>
            </a:pPr>
            <a:endParaRPr lang="en-US" sz="4123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5943"/>
              </a:lnSpc>
            </a:pPr>
            <a:endParaRPr lang="en-US" sz="4123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10535"/>
              </a:lnSpc>
            </a:pPr>
            <a:r>
              <a:rPr lang="en-US" sz="6423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 </a:t>
            </a:r>
          </a:p>
          <a:p>
            <a:pPr marL="0" lvl="0" indent="0" algn="ctr">
              <a:lnSpc>
                <a:spcPts val="10535"/>
              </a:lnSpc>
              <a:spcBef>
                <a:spcPct val="0"/>
              </a:spcBef>
            </a:pPr>
            <a:endParaRPr lang="en-US" sz="6423">
              <a:solidFill>
                <a:srgbClr val="000000"/>
              </a:solidFill>
              <a:latin typeface="TAN Pearl"/>
              <a:ea typeface="TAN Pearl"/>
              <a:cs typeface="TAN Pearl"/>
              <a:sym typeface="TAN Pearl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1071900" y="-1271394"/>
            <a:ext cx="2860913" cy="2850185"/>
          </a:xfrm>
          <a:custGeom>
            <a:avLst/>
            <a:gdLst/>
            <a:ahLst/>
            <a:cxnLst/>
            <a:rect l="l" t="t" r="r" b="b"/>
            <a:pathLst>
              <a:path w="2860913" h="2850185">
                <a:moveTo>
                  <a:pt x="0" y="0"/>
                </a:moveTo>
                <a:lnTo>
                  <a:pt x="2860913" y="0"/>
                </a:lnTo>
                <a:lnTo>
                  <a:pt x="2860913" y="2850185"/>
                </a:lnTo>
                <a:lnTo>
                  <a:pt x="0" y="2850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6546422" y="8476926"/>
            <a:ext cx="3035383" cy="3024000"/>
          </a:xfrm>
          <a:custGeom>
            <a:avLst/>
            <a:gdLst/>
            <a:ahLst/>
            <a:cxnLst/>
            <a:rect l="l" t="t" r="r" b="b"/>
            <a:pathLst>
              <a:path w="3035383" h="3024000">
                <a:moveTo>
                  <a:pt x="0" y="0"/>
                </a:moveTo>
                <a:lnTo>
                  <a:pt x="3035383" y="0"/>
                </a:lnTo>
                <a:lnTo>
                  <a:pt x="3035383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1996" y="-211216"/>
            <a:ext cx="16947304" cy="157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7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2677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5057"/>
              </a:lnSpc>
              <a:spcBef>
                <a:spcPct val="0"/>
              </a:spcBef>
            </a:pPr>
            <a:r>
              <a:rPr lang="en-US" sz="361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The dataset I'll be working with contains information about loan applications. It includes two types of scenarios:</a:t>
            </a:r>
          </a:p>
          <a:p>
            <a:pPr algn="ctr">
              <a:lnSpc>
                <a:spcPts val="5057"/>
              </a:lnSpc>
              <a:spcBef>
                <a:spcPct val="0"/>
              </a:spcBef>
            </a:pPr>
            <a:r>
              <a:rPr lang="en-US" sz="361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Customers with payment difficulties: These are customers who had a late payment of more than X days on at least one of the first Y installments of the loan.</a:t>
            </a:r>
          </a:p>
          <a:p>
            <a:pPr algn="ctr">
              <a:lnSpc>
                <a:spcPts val="5057"/>
              </a:lnSpc>
              <a:spcBef>
                <a:spcPct val="0"/>
              </a:spcBef>
            </a:pPr>
            <a:r>
              <a:rPr lang="en-US" sz="361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All other cases: These are cases where the payment was made on time.</a:t>
            </a:r>
          </a:p>
          <a:p>
            <a:pPr algn="ctr">
              <a:lnSpc>
                <a:spcPts val="5057"/>
              </a:lnSpc>
              <a:spcBef>
                <a:spcPct val="0"/>
              </a:spcBef>
            </a:pPr>
            <a:r>
              <a:rPr lang="en-US" sz="361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When a customer applies for a loan, there are four possible outcomes:</a:t>
            </a:r>
          </a:p>
          <a:p>
            <a:pPr algn="ctr">
              <a:lnSpc>
                <a:spcPts val="5057"/>
              </a:lnSpc>
              <a:spcBef>
                <a:spcPct val="0"/>
              </a:spcBef>
            </a:pPr>
            <a:r>
              <a:rPr lang="en-US" sz="361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Approved: The company has approved the loan application.</a:t>
            </a:r>
          </a:p>
          <a:p>
            <a:pPr algn="ctr">
              <a:lnSpc>
                <a:spcPts val="5057"/>
              </a:lnSpc>
              <a:spcBef>
                <a:spcPct val="0"/>
              </a:spcBef>
            </a:pPr>
            <a:r>
              <a:rPr lang="en-US" sz="361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Cancelled: The customer cancelled the application during the approval process.</a:t>
            </a:r>
          </a:p>
          <a:p>
            <a:pPr algn="ctr">
              <a:lnSpc>
                <a:spcPts val="5057"/>
              </a:lnSpc>
              <a:spcBef>
                <a:spcPct val="0"/>
              </a:spcBef>
            </a:pPr>
            <a:r>
              <a:rPr lang="en-US" sz="361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Refused: The company rejected the loan.</a:t>
            </a:r>
          </a:p>
          <a:p>
            <a:pPr algn="ctr">
              <a:lnSpc>
                <a:spcPts val="5057"/>
              </a:lnSpc>
              <a:spcBef>
                <a:spcPct val="0"/>
              </a:spcBef>
            </a:pPr>
            <a:r>
              <a:rPr lang="en-US" sz="361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Unused Offer: The loan was approved but the customer did not use it.  </a:t>
            </a:r>
          </a:p>
          <a:p>
            <a:pPr algn="ctr">
              <a:lnSpc>
                <a:spcPts val="5057"/>
              </a:lnSpc>
              <a:spcBef>
                <a:spcPct val="0"/>
              </a:spcBef>
            </a:pPr>
            <a:endParaRPr lang="en-US" sz="3612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5057"/>
              </a:lnSpc>
              <a:spcBef>
                <a:spcPct val="0"/>
              </a:spcBef>
            </a:pPr>
            <a:r>
              <a:rPr lang="en-US" sz="361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MY goal in this project is to use EDA to understand how customer attributes and loan attributes influence the likelihood of default.</a:t>
            </a:r>
          </a:p>
          <a:p>
            <a:pPr algn="ctr">
              <a:lnSpc>
                <a:spcPts val="4917"/>
              </a:lnSpc>
              <a:spcBef>
                <a:spcPct val="0"/>
              </a:spcBef>
            </a:pPr>
            <a:endParaRPr lang="en-US" sz="3612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4637"/>
              </a:lnSpc>
              <a:spcBef>
                <a:spcPct val="0"/>
              </a:spcBef>
            </a:pPr>
            <a:endParaRPr lang="en-US" sz="3612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4637"/>
              </a:lnSpc>
              <a:spcBef>
                <a:spcPct val="0"/>
              </a:spcBef>
            </a:pPr>
            <a:endParaRPr lang="en-US" sz="3612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4637"/>
              </a:lnSpc>
              <a:spcBef>
                <a:spcPct val="0"/>
              </a:spcBef>
            </a:pPr>
            <a:endParaRPr lang="en-US" sz="3612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4637"/>
              </a:lnSpc>
              <a:spcBef>
                <a:spcPct val="0"/>
              </a:spcBef>
            </a:pPr>
            <a:endParaRPr lang="en-US" sz="3612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4637"/>
              </a:lnSpc>
              <a:spcBef>
                <a:spcPct val="0"/>
              </a:spcBef>
            </a:pPr>
            <a:endParaRPr lang="en-US" sz="3612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2677"/>
              </a:lnSpc>
              <a:spcBef>
                <a:spcPct val="0"/>
              </a:spcBef>
            </a:pPr>
            <a:endParaRPr lang="en-US" sz="3612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2677"/>
              </a:lnSpc>
              <a:spcBef>
                <a:spcPct val="0"/>
              </a:spcBef>
            </a:pPr>
            <a:endParaRPr lang="en-US" sz="3612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2677"/>
              </a:lnSpc>
              <a:spcBef>
                <a:spcPct val="0"/>
              </a:spcBef>
            </a:pPr>
            <a:endParaRPr lang="en-US" sz="3612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2677"/>
              </a:lnSpc>
              <a:spcBef>
                <a:spcPct val="0"/>
              </a:spcBef>
            </a:pPr>
            <a:endParaRPr lang="en-US" sz="3612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2677"/>
              </a:lnSpc>
              <a:spcBef>
                <a:spcPct val="0"/>
              </a:spcBef>
            </a:pPr>
            <a:endParaRPr lang="en-US" sz="3612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2677"/>
              </a:lnSpc>
              <a:spcBef>
                <a:spcPct val="0"/>
              </a:spcBef>
            </a:pPr>
            <a:endParaRPr lang="en-US" sz="3612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5378" y="2843840"/>
            <a:ext cx="4244332" cy="724829"/>
            <a:chOff x="0" y="0"/>
            <a:chExt cx="1072285" cy="1831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2285" cy="183120"/>
            </a:xfrm>
            <a:custGeom>
              <a:avLst/>
              <a:gdLst/>
              <a:ahLst/>
              <a:cxnLst/>
              <a:rect l="l" t="t" r="r" b="b"/>
              <a:pathLst>
                <a:path w="1072285" h="183120">
                  <a:moveTo>
                    <a:pt x="0" y="0"/>
                  </a:moveTo>
                  <a:lnTo>
                    <a:pt x="1072285" y="0"/>
                  </a:lnTo>
                  <a:lnTo>
                    <a:pt x="1072285" y="183120"/>
                  </a:lnTo>
                  <a:lnTo>
                    <a:pt x="0" y="183120"/>
                  </a:lnTo>
                  <a:close/>
                </a:path>
              </a:pathLst>
            </a:custGeom>
            <a:solidFill>
              <a:srgbClr val="C5AB9B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072285" cy="230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804"/>
                </a:lnSpc>
                <a:spcBef>
                  <a:spcPct val="0"/>
                </a:spcBef>
              </a:pPr>
              <a:r>
                <a:rPr lang="en-US" sz="2717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STEP-1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28231" y="2843840"/>
            <a:ext cx="4244332" cy="724829"/>
            <a:chOff x="0" y="0"/>
            <a:chExt cx="1072285" cy="183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2285" cy="183120"/>
            </a:xfrm>
            <a:custGeom>
              <a:avLst/>
              <a:gdLst/>
              <a:ahLst/>
              <a:cxnLst/>
              <a:rect l="l" t="t" r="r" b="b"/>
              <a:pathLst>
                <a:path w="1072285" h="183120">
                  <a:moveTo>
                    <a:pt x="0" y="0"/>
                  </a:moveTo>
                  <a:lnTo>
                    <a:pt x="1072285" y="0"/>
                  </a:lnTo>
                  <a:lnTo>
                    <a:pt x="1072285" y="183120"/>
                  </a:lnTo>
                  <a:lnTo>
                    <a:pt x="0" y="183120"/>
                  </a:lnTo>
                  <a:close/>
                </a:path>
              </a:pathLst>
            </a:custGeom>
            <a:solidFill>
              <a:srgbClr val="C5AB9B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2285" cy="230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804"/>
                </a:lnSpc>
                <a:spcBef>
                  <a:spcPct val="0"/>
                </a:spcBef>
              </a:pPr>
              <a:r>
                <a:rPr lang="en-US" sz="2717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STEP-2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61391" y="2843840"/>
            <a:ext cx="4244332" cy="724829"/>
            <a:chOff x="0" y="0"/>
            <a:chExt cx="1072285" cy="183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2285" cy="183120"/>
            </a:xfrm>
            <a:custGeom>
              <a:avLst/>
              <a:gdLst/>
              <a:ahLst/>
              <a:cxnLst/>
              <a:rect l="l" t="t" r="r" b="b"/>
              <a:pathLst>
                <a:path w="1072285" h="183120">
                  <a:moveTo>
                    <a:pt x="0" y="0"/>
                  </a:moveTo>
                  <a:lnTo>
                    <a:pt x="1072285" y="0"/>
                  </a:lnTo>
                  <a:lnTo>
                    <a:pt x="1072285" y="183120"/>
                  </a:lnTo>
                  <a:lnTo>
                    <a:pt x="0" y="183120"/>
                  </a:lnTo>
                  <a:close/>
                </a:path>
              </a:pathLst>
            </a:custGeom>
            <a:solidFill>
              <a:srgbClr val="C5AB9B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072285" cy="230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804"/>
                </a:lnSpc>
                <a:spcBef>
                  <a:spcPct val="0"/>
                </a:spcBef>
              </a:pPr>
              <a:r>
                <a:rPr lang="en-US" sz="2717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STEP-3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96223" y="2843840"/>
            <a:ext cx="4242353" cy="724829"/>
            <a:chOff x="0" y="0"/>
            <a:chExt cx="1071785" cy="1831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1785" cy="183120"/>
            </a:xfrm>
            <a:custGeom>
              <a:avLst/>
              <a:gdLst/>
              <a:ahLst/>
              <a:cxnLst/>
              <a:rect l="l" t="t" r="r" b="b"/>
              <a:pathLst>
                <a:path w="1071785" h="183120">
                  <a:moveTo>
                    <a:pt x="0" y="0"/>
                  </a:moveTo>
                  <a:lnTo>
                    <a:pt x="1071785" y="0"/>
                  </a:lnTo>
                  <a:lnTo>
                    <a:pt x="1071785" y="183120"/>
                  </a:lnTo>
                  <a:lnTo>
                    <a:pt x="0" y="183120"/>
                  </a:lnTo>
                  <a:close/>
                </a:path>
              </a:pathLst>
            </a:custGeom>
            <a:solidFill>
              <a:srgbClr val="C5AB9B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71785" cy="230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804"/>
                </a:lnSpc>
                <a:spcBef>
                  <a:spcPct val="0"/>
                </a:spcBef>
              </a:pPr>
              <a:r>
                <a:rPr lang="en-US" sz="2717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STEP-4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381263" y="1217590"/>
            <a:ext cx="9525474" cy="1279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50"/>
              </a:lnSpc>
              <a:spcBef>
                <a:spcPct val="0"/>
              </a:spcBef>
            </a:pPr>
            <a:r>
              <a:rPr lang="en-US" sz="7393" spc="96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APPROACH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3384" y="3699172"/>
            <a:ext cx="3651014" cy="537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7"/>
              </a:lnSpc>
              <a:spcBef>
                <a:spcPct val="0"/>
              </a:spcBef>
            </a:pPr>
            <a:r>
              <a:rPr lang="en-US" sz="3197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Data Cleaning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7553" y="4500556"/>
            <a:ext cx="4579982" cy="5320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4"/>
              </a:lnSpc>
            </a:pPr>
            <a:r>
              <a:rPr lang="en-US" sz="276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Involves</a:t>
            </a:r>
          </a:p>
          <a:p>
            <a:pPr algn="ctr">
              <a:lnSpc>
                <a:spcPts val="3874"/>
              </a:lnSpc>
            </a:pPr>
            <a:r>
              <a:rPr lang="en-US" sz="276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finding out blank cells, handling null values</a:t>
            </a:r>
          </a:p>
          <a:p>
            <a:pPr algn="ctr">
              <a:lnSpc>
                <a:spcPts val="3874"/>
              </a:lnSpc>
            </a:pPr>
            <a:r>
              <a:rPr lang="en-US" sz="276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removing out columns having null proportion more than 45%</a:t>
            </a:r>
          </a:p>
          <a:p>
            <a:pPr algn="ctr">
              <a:lnSpc>
                <a:spcPts val="3874"/>
              </a:lnSpc>
            </a:pPr>
            <a:r>
              <a:rPr lang="en-US" sz="276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handling missing values using descriptive statistics </a:t>
            </a:r>
          </a:p>
          <a:p>
            <a:pPr algn="ctr">
              <a:lnSpc>
                <a:spcPts val="3874"/>
              </a:lnSpc>
            </a:pPr>
            <a:endParaRPr lang="en-US" sz="2767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3874"/>
              </a:lnSpc>
            </a:pPr>
            <a:endParaRPr lang="en-US" sz="2767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3874"/>
              </a:lnSpc>
            </a:pPr>
            <a:endParaRPr lang="en-US" sz="2767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743974" y="3689647"/>
            <a:ext cx="4727896" cy="56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8"/>
              </a:lnSpc>
              <a:spcBef>
                <a:spcPct val="0"/>
              </a:spcBef>
            </a:pPr>
            <a:r>
              <a:rPr lang="en-US" sz="3277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Data Analysis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07535" y="4344692"/>
            <a:ext cx="4600775" cy="5318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  <a:spcBef>
                <a:spcPct val="0"/>
              </a:spcBef>
            </a:pPr>
            <a:r>
              <a:rPr lang="en-US" sz="27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involves sorting data to make it less complicated while performing tasks  and identifying patterns, trends &amp;insights with the information, it can be used to make decisions such as denying the loan, reducing the amount of loan, or lending at a higher interest rate to risky applicants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65504" y="3699172"/>
            <a:ext cx="3908512" cy="1047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0"/>
              </a:lnSpc>
              <a:spcBef>
                <a:spcPct val="0"/>
              </a:spcBef>
            </a:pPr>
            <a:r>
              <a:rPr lang="en-US" sz="3021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Data collection &amp; Data modelling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82938" y="4879714"/>
            <a:ext cx="3473643" cy="39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6"/>
              </a:lnSpc>
              <a:spcBef>
                <a:spcPct val="0"/>
              </a:spcBef>
            </a:pPr>
            <a:r>
              <a:rPr lang="en-US" sz="2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involves  collecting data  and performing the given tasks Using statistical methods that can predict outcomes or identify trends &amp; patterns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82758" y="3706679"/>
            <a:ext cx="3869283" cy="107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9"/>
              </a:lnSpc>
              <a:spcBef>
                <a:spcPct val="0"/>
              </a:spcBef>
            </a:pPr>
            <a:r>
              <a:rPr lang="en-US" sz="3078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Data visualization &amp; Data Insights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96223" y="4889239"/>
            <a:ext cx="4011883" cy="4265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5"/>
              </a:lnSpc>
              <a:spcBef>
                <a:spcPct val="0"/>
              </a:spcBef>
            </a:pPr>
            <a:r>
              <a:rPr lang="en-US" sz="270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involves Creating reports and charts to communicate findings Extracting actionable insights from the data  Creating documentation so anyone going through can understand the data analysis process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40418" y="-2441628"/>
            <a:ext cx="8690625" cy="6352057"/>
          </a:xfrm>
          <a:custGeom>
            <a:avLst/>
            <a:gdLst/>
            <a:ahLst/>
            <a:cxnLst/>
            <a:rect l="l" t="t" r="r" b="b"/>
            <a:pathLst>
              <a:path w="8690625" h="6352057">
                <a:moveTo>
                  <a:pt x="0" y="0"/>
                </a:moveTo>
                <a:lnTo>
                  <a:pt x="8690625" y="0"/>
                </a:lnTo>
                <a:lnTo>
                  <a:pt x="8690625" y="6352057"/>
                </a:lnTo>
                <a:lnTo>
                  <a:pt x="0" y="6352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72712" y="8064712"/>
            <a:ext cx="1786588" cy="1676145"/>
          </a:xfrm>
          <a:custGeom>
            <a:avLst/>
            <a:gdLst/>
            <a:ahLst/>
            <a:cxnLst/>
            <a:rect l="l" t="t" r="r" b="b"/>
            <a:pathLst>
              <a:path w="1786588" h="1676145">
                <a:moveTo>
                  <a:pt x="0" y="0"/>
                </a:moveTo>
                <a:lnTo>
                  <a:pt x="1786588" y="0"/>
                </a:lnTo>
                <a:lnTo>
                  <a:pt x="1786588" y="1676145"/>
                </a:lnTo>
                <a:lnTo>
                  <a:pt x="0" y="16761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316613" y="6547977"/>
            <a:ext cx="8690625" cy="6352057"/>
          </a:xfrm>
          <a:custGeom>
            <a:avLst/>
            <a:gdLst/>
            <a:ahLst/>
            <a:cxnLst/>
            <a:rect l="l" t="t" r="r" b="b"/>
            <a:pathLst>
              <a:path w="8690625" h="6352057">
                <a:moveTo>
                  <a:pt x="0" y="0"/>
                </a:moveTo>
                <a:lnTo>
                  <a:pt x="8690626" y="0"/>
                </a:lnTo>
                <a:lnTo>
                  <a:pt x="8690626" y="6352057"/>
                </a:lnTo>
                <a:lnTo>
                  <a:pt x="0" y="6352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444780" y="3519295"/>
            <a:ext cx="304087" cy="30408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AB9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725434" y="704850"/>
            <a:ext cx="10149199" cy="129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90"/>
              </a:lnSpc>
            </a:pPr>
            <a:r>
              <a:rPr lang="en-US" sz="6457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Tech Stack Used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444780" y="5060726"/>
            <a:ext cx="304087" cy="30408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AB9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44780" y="6605241"/>
            <a:ext cx="304087" cy="30408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AB9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3286833"/>
            <a:ext cx="14628344" cy="69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  <a:spcBef>
                <a:spcPct val="0"/>
              </a:spcBef>
            </a:pPr>
            <a:r>
              <a:rPr lang="en-US" sz="4081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Microsoft Excel</a:t>
            </a:r>
            <a:r>
              <a:rPr lang="en-US" sz="408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: To do Data analyst process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48866" y="4851460"/>
            <a:ext cx="9979980" cy="696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Word </a:t>
            </a:r>
            <a:r>
              <a:rPr lang="en-US" sz="408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: To Document insights &amp; results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7654" y="6406489"/>
            <a:ext cx="17585730" cy="68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6"/>
              </a:lnSpc>
              <a:spcBef>
                <a:spcPct val="0"/>
              </a:spcBef>
            </a:pPr>
            <a:r>
              <a:rPr lang="en-US" sz="4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Canva</a:t>
            </a:r>
            <a:r>
              <a:rPr lang="en-US" sz="400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: To create PPT (For a quick go through of project)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4954093" y="-208997"/>
            <a:ext cx="0" cy="10974228"/>
          </a:xfrm>
          <a:prstGeom prst="line">
            <a:avLst/>
          </a:prstGeom>
          <a:ln w="19050" cap="flat">
            <a:solidFill>
              <a:srgbClr val="100F0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0" y="0"/>
            <a:ext cx="4848206" cy="10287000"/>
            <a:chOff x="0" y="0"/>
            <a:chExt cx="1276894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6894" cy="2709333"/>
            </a:xfrm>
            <a:custGeom>
              <a:avLst/>
              <a:gdLst/>
              <a:ahLst/>
              <a:cxnLst/>
              <a:rect l="l" t="t" r="r" b="b"/>
              <a:pathLst>
                <a:path w="1276894" h="2709333">
                  <a:moveTo>
                    <a:pt x="0" y="0"/>
                  </a:moveTo>
                  <a:lnTo>
                    <a:pt x="1276894" y="0"/>
                  </a:lnTo>
                  <a:lnTo>
                    <a:pt x="12768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276894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954093" y="1858657"/>
            <a:ext cx="12844570" cy="8047460"/>
          </a:xfrm>
          <a:custGeom>
            <a:avLst/>
            <a:gdLst/>
            <a:ahLst/>
            <a:cxnLst/>
            <a:rect l="l" t="t" r="r" b="b"/>
            <a:pathLst>
              <a:path w="12844570" h="8047460">
                <a:moveTo>
                  <a:pt x="0" y="0"/>
                </a:moveTo>
                <a:lnTo>
                  <a:pt x="12844569" y="0"/>
                </a:lnTo>
                <a:lnTo>
                  <a:pt x="12844569" y="8047460"/>
                </a:lnTo>
                <a:lnTo>
                  <a:pt x="0" y="8047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26" r="-1085" b="-102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954093" y="-56704"/>
            <a:ext cx="12822747" cy="191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02"/>
              </a:lnSpc>
              <a:spcBef>
                <a:spcPct val="0"/>
              </a:spcBef>
            </a:pPr>
            <a:r>
              <a:rPr lang="en-US" sz="4757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Identifying blank cells,handling null and missing values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7803" y="84313"/>
            <a:ext cx="4110508" cy="1010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3450" lvl="1" indent="-341725" algn="ctr">
              <a:lnSpc>
                <a:spcPts val="4431"/>
              </a:lnSpc>
              <a:buFont typeface="Arial"/>
              <a:buChar char="•"/>
            </a:pPr>
            <a:r>
              <a:rPr lang="en-US" sz="3165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Counted blank cells &amp;calculated blank  proportion with excel functions</a:t>
            </a:r>
          </a:p>
          <a:p>
            <a:pPr marL="683450" lvl="1" indent="-341725" algn="ctr">
              <a:lnSpc>
                <a:spcPts val="4431"/>
              </a:lnSpc>
              <a:buFont typeface="Arial"/>
              <a:buChar char="•"/>
            </a:pPr>
            <a:r>
              <a:rPr lang="en-US" sz="3165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Created a column chart to visualize the proportion of null values for each variable.  </a:t>
            </a:r>
          </a:p>
          <a:p>
            <a:pPr marL="683450" lvl="1" indent="-341725" algn="ctr">
              <a:lnSpc>
                <a:spcPts val="4431"/>
              </a:lnSpc>
              <a:buFont typeface="Arial"/>
              <a:buChar char="•"/>
            </a:pPr>
            <a:r>
              <a:rPr lang="en-US" sz="3165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Highlighted columns having null values less &amp;  more than 45%</a:t>
            </a:r>
          </a:p>
          <a:p>
            <a:pPr marL="683450" lvl="1" indent="-341725" algn="ctr">
              <a:lnSpc>
                <a:spcPts val="4431"/>
              </a:lnSpc>
              <a:buFont typeface="Arial"/>
              <a:buChar char="•"/>
            </a:pPr>
            <a:r>
              <a:rPr lang="en-US" sz="3165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Handled missing values using Descriptive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6438" y="233440"/>
            <a:ext cx="10647825" cy="9514347"/>
            <a:chOff x="0" y="0"/>
            <a:chExt cx="2804366" cy="25058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04366" cy="2505836"/>
            </a:xfrm>
            <a:custGeom>
              <a:avLst/>
              <a:gdLst/>
              <a:ahLst/>
              <a:cxnLst/>
              <a:rect l="l" t="t" r="r" b="b"/>
              <a:pathLst>
                <a:path w="2804366" h="2505836">
                  <a:moveTo>
                    <a:pt x="0" y="0"/>
                  </a:moveTo>
                  <a:lnTo>
                    <a:pt x="2804366" y="0"/>
                  </a:lnTo>
                  <a:lnTo>
                    <a:pt x="2804366" y="2505836"/>
                  </a:lnTo>
                  <a:lnTo>
                    <a:pt x="0" y="25058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804366" cy="25725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48297" y="1999559"/>
            <a:ext cx="10323823" cy="2752445"/>
          </a:xfrm>
          <a:custGeom>
            <a:avLst/>
            <a:gdLst/>
            <a:ahLst/>
            <a:cxnLst/>
            <a:rect l="l" t="t" r="r" b="b"/>
            <a:pathLst>
              <a:path w="10323823" h="2752445">
                <a:moveTo>
                  <a:pt x="0" y="0"/>
                </a:moveTo>
                <a:lnTo>
                  <a:pt x="10323823" y="0"/>
                </a:lnTo>
                <a:lnTo>
                  <a:pt x="10323823" y="2752445"/>
                </a:lnTo>
                <a:lnTo>
                  <a:pt x="0" y="2752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81" r="-45385" b="-78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6256" y="4752004"/>
            <a:ext cx="10467905" cy="4845415"/>
          </a:xfrm>
          <a:custGeom>
            <a:avLst/>
            <a:gdLst/>
            <a:ahLst/>
            <a:cxnLst/>
            <a:rect l="l" t="t" r="r" b="b"/>
            <a:pathLst>
              <a:path w="10467905" h="4845415">
                <a:moveTo>
                  <a:pt x="0" y="0"/>
                </a:moveTo>
                <a:lnTo>
                  <a:pt x="10467905" y="0"/>
                </a:lnTo>
                <a:lnTo>
                  <a:pt x="10467905" y="4845415"/>
                </a:lnTo>
                <a:lnTo>
                  <a:pt x="0" y="48454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796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35506" y="441543"/>
            <a:ext cx="6893486" cy="106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73"/>
              </a:lnSpc>
              <a:spcBef>
                <a:spcPct val="0"/>
              </a:spcBef>
            </a:pPr>
            <a:r>
              <a:rPr lang="en-US" sz="6267" b="1">
                <a:solidFill>
                  <a:srgbClr val="010101"/>
                </a:solidFill>
                <a:latin typeface="Lora Bold"/>
                <a:ea typeface="Lora Bold"/>
                <a:cs typeface="Lora Bold"/>
                <a:sym typeface="Lora Bold"/>
              </a:rPr>
              <a:t>Identify Outliers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46069" y="498693"/>
            <a:ext cx="6215649" cy="958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0"/>
              </a:lnSpc>
            </a:pPr>
            <a:r>
              <a:rPr lang="en-US" sz="3021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outliers are data points which deviate from the majority of the data</a:t>
            </a:r>
          </a:p>
          <a:p>
            <a:pPr algn="ctr">
              <a:lnSpc>
                <a:spcPts val="4230"/>
              </a:lnSpc>
            </a:pPr>
            <a:r>
              <a:rPr lang="en-US" sz="3021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Once I got the cleaned data, filtered out columns  to detect outliers ,taken out selected columns</a:t>
            </a:r>
          </a:p>
          <a:p>
            <a:pPr algn="ctr">
              <a:lnSpc>
                <a:spcPts val="4230"/>
              </a:lnSpc>
            </a:pPr>
            <a:r>
              <a:rPr lang="en-US" sz="3021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with the help of excel functions like quartile calculated Q1,Q3,IQR,upper &amp;lower limit </a:t>
            </a:r>
          </a:p>
          <a:p>
            <a:pPr algn="ctr">
              <a:lnSpc>
                <a:spcPts val="4230"/>
              </a:lnSpc>
            </a:pPr>
            <a:r>
              <a:rPr lang="en-US" sz="3021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For all the detected columns, I calculated descriptive statistics and also to visually understand used box plots or scatter plots to visualize the distribution of numerical variables and to highlight the outliers</a:t>
            </a:r>
          </a:p>
          <a:p>
            <a:pPr algn="ctr">
              <a:lnSpc>
                <a:spcPts val="4230"/>
              </a:lnSpc>
              <a:spcBef>
                <a:spcPct val="0"/>
              </a:spcBef>
            </a:pPr>
            <a:endParaRPr lang="en-US" sz="3021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3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45361" y="354915"/>
            <a:ext cx="3216526" cy="9726207"/>
          </a:xfrm>
          <a:custGeom>
            <a:avLst/>
            <a:gdLst/>
            <a:ahLst/>
            <a:cxnLst/>
            <a:rect l="l" t="t" r="r" b="b"/>
            <a:pathLst>
              <a:path w="3216526" h="9726207">
                <a:moveTo>
                  <a:pt x="0" y="0"/>
                </a:moveTo>
                <a:lnTo>
                  <a:pt x="3216526" y="0"/>
                </a:lnTo>
                <a:lnTo>
                  <a:pt x="3216526" y="9726207"/>
                </a:lnTo>
                <a:lnTo>
                  <a:pt x="0" y="9726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0" t="-905" r="-1183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00492" y="4515187"/>
            <a:ext cx="4687016" cy="5337928"/>
          </a:xfrm>
          <a:custGeom>
            <a:avLst/>
            <a:gdLst/>
            <a:ahLst/>
            <a:cxnLst/>
            <a:rect l="l" t="t" r="r" b="b"/>
            <a:pathLst>
              <a:path w="4687016" h="5337928">
                <a:moveTo>
                  <a:pt x="0" y="0"/>
                </a:moveTo>
                <a:lnTo>
                  <a:pt x="4687016" y="0"/>
                </a:lnTo>
                <a:lnTo>
                  <a:pt x="4687016" y="5337928"/>
                </a:lnTo>
                <a:lnTo>
                  <a:pt x="0" y="5337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5591" b="-777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317471" y="288172"/>
            <a:ext cx="4542303" cy="3825613"/>
          </a:xfrm>
          <a:custGeom>
            <a:avLst/>
            <a:gdLst/>
            <a:ahLst/>
            <a:cxnLst/>
            <a:rect l="l" t="t" r="r" b="b"/>
            <a:pathLst>
              <a:path w="4542303" h="3825613">
                <a:moveTo>
                  <a:pt x="0" y="0"/>
                </a:moveTo>
                <a:lnTo>
                  <a:pt x="4542303" y="0"/>
                </a:lnTo>
                <a:lnTo>
                  <a:pt x="4542303" y="3825613"/>
                </a:lnTo>
                <a:lnTo>
                  <a:pt x="0" y="3825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7147" r="-13463" b="-488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971750" y="4287180"/>
            <a:ext cx="5824073" cy="5793942"/>
          </a:xfrm>
          <a:custGeom>
            <a:avLst/>
            <a:gdLst/>
            <a:ahLst/>
            <a:cxnLst/>
            <a:rect l="l" t="t" r="r" b="b"/>
            <a:pathLst>
              <a:path w="5824073" h="5793942">
                <a:moveTo>
                  <a:pt x="0" y="0"/>
                </a:moveTo>
                <a:lnTo>
                  <a:pt x="5824073" y="0"/>
                </a:lnTo>
                <a:lnTo>
                  <a:pt x="5824073" y="5793942"/>
                </a:lnTo>
                <a:lnTo>
                  <a:pt x="0" y="5793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5" r="-825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707411" y="324836"/>
            <a:ext cx="4873178" cy="3752285"/>
          </a:xfrm>
          <a:custGeom>
            <a:avLst/>
            <a:gdLst/>
            <a:ahLst/>
            <a:cxnLst/>
            <a:rect l="l" t="t" r="r" b="b"/>
            <a:pathLst>
              <a:path w="4873178" h="3752285">
                <a:moveTo>
                  <a:pt x="0" y="0"/>
                </a:moveTo>
                <a:lnTo>
                  <a:pt x="4873178" y="0"/>
                </a:lnTo>
                <a:lnTo>
                  <a:pt x="4873178" y="3752285"/>
                </a:lnTo>
                <a:lnTo>
                  <a:pt x="0" y="37522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30" t="-50640" r="-3137" b="-602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8124374"/>
            <a:ext cx="3095373" cy="1956748"/>
          </a:xfrm>
          <a:custGeom>
            <a:avLst/>
            <a:gdLst/>
            <a:ahLst/>
            <a:cxnLst/>
            <a:rect l="l" t="t" r="r" b="b"/>
            <a:pathLst>
              <a:path w="3095373" h="1956748">
                <a:moveTo>
                  <a:pt x="0" y="0"/>
                </a:moveTo>
                <a:lnTo>
                  <a:pt x="3095373" y="0"/>
                </a:lnTo>
                <a:lnTo>
                  <a:pt x="3095373" y="1956748"/>
                </a:lnTo>
                <a:lnTo>
                  <a:pt x="0" y="19567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893" r="-62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471572" y="341864"/>
            <a:ext cx="2240914" cy="570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69"/>
              </a:lnSpc>
            </a:pPr>
            <a:r>
              <a:rPr lang="en-US" sz="4620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</a:t>
            </a:r>
          </a:p>
          <a:p>
            <a:pPr algn="ctr">
              <a:lnSpc>
                <a:spcPts val="6469"/>
              </a:lnSpc>
            </a:pPr>
            <a:r>
              <a:rPr lang="en-US" sz="4620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N</a:t>
            </a:r>
          </a:p>
          <a:p>
            <a:pPr algn="ctr">
              <a:lnSpc>
                <a:spcPts val="6469"/>
              </a:lnSpc>
            </a:pPr>
            <a:r>
              <a:rPr lang="en-US" sz="4620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</a:t>
            </a:r>
          </a:p>
          <a:p>
            <a:pPr algn="ctr">
              <a:lnSpc>
                <a:spcPts val="6469"/>
              </a:lnSpc>
            </a:pPr>
            <a:r>
              <a:rPr lang="en-US" sz="4620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L</a:t>
            </a:r>
          </a:p>
          <a:p>
            <a:pPr algn="ctr">
              <a:lnSpc>
                <a:spcPts val="6469"/>
              </a:lnSpc>
            </a:pPr>
            <a:r>
              <a:rPr lang="en-US" sz="4620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Y</a:t>
            </a:r>
          </a:p>
          <a:p>
            <a:pPr algn="ctr">
              <a:lnSpc>
                <a:spcPts val="6469"/>
              </a:lnSpc>
            </a:pPr>
            <a:r>
              <a:rPr lang="en-US" sz="4620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</a:t>
            </a:r>
          </a:p>
          <a:p>
            <a:pPr algn="ctr">
              <a:lnSpc>
                <a:spcPts val="6469"/>
              </a:lnSpc>
              <a:spcBef>
                <a:spcPct val="0"/>
              </a:spcBef>
            </a:pPr>
            <a:r>
              <a:rPr lang="en-US" sz="4620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3999" y="1491578"/>
            <a:ext cx="677489" cy="3778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5"/>
              </a:lnSpc>
            </a:pPr>
            <a:r>
              <a:rPr lang="en-US" sz="5403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D</a:t>
            </a:r>
          </a:p>
          <a:p>
            <a:pPr algn="ctr">
              <a:lnSpc>
                <a:spcPts val="7565"/>
              </a:lnSpc>
            </a:pPr>
            <a:r>
              <a:rPr lang="en-US" sz="5403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A</a:t>
            </a:r>
          </a:p>
          <a:p>
            <a:pPr algn="ctr">
              <a:lnSpc>
                <a:spcPts val="7565"/>
              </a:lnSpc>
            </a:pPr>
            <a:r>
              <a:rPr lang="en-US" sz="5403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T</a:t>
            </a:r>
          </a:p>
          <a:p>
            <a:pPr algn="ctr">
              <a:lnSpc>
                <a:spcPts val="7483"/>
              </a:lnSpc>
              <a:spcBef>
                <a:spcPct val="0"/>
              </a:spcBef>
            </a:pPr>
            <a:r>
              <a:rPr lang="en-US" sz="5345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97263" y="351389"/>
            <a:ext cx="515064" cy="6571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1"/>
              </a:lnSpc>
            </a:pPr>
            <a:r>
              <a:rPr lang="en-US" sz="4172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I</a:t>
            </a:r>
          </a:p>
          <a:p>
            <a:pPr algn="ctr">
              <a:lnSpc>
                <a:spcPts val="5841"/>
              </a:lnSpc>
            </a:pPr>
            <a:r>
              <a:rPr lang="en-US" sz="4172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M</a:t>
            </a:r>
          </a:p>
          <a:p>
            <a:pPr algn="ctr">
              <a:lnSpc>
                <a:spcPts val="5841"/>
              </a:lnSpc>
            </a:pPr>
            <a:r>
              <a:rPr lang="en-US" sz="4172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B</a:t>
            </a:r>
          </a:p>
          <a:p>
            <a:pPr algn="ctr">
              <a:lnSpc>
                <a:spcPts val="5841"/>
              </a:lnSpc>
            </a:pPr>
            <a:r>
              <a:rPr lang="en-US" sz="4172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</a:t>
            </a:r>
          </a:p>
          <a:p>
            <a:pPr algn="ctr">
              <a:lnSpc>
                <a:spcPts val="5841"/>
              </a:lnSpc>
            </a:pPr>
            <a:r>
              <a:rPr lang="en-US" sz="4172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L</a:t>
            </a:r>
          </a:p>
          <a:p>
            <a:pPr algn="ctr">
              <a:lnSpc>
                <a:spcPts val="5841"/>
              </a:lnSpc>
            </a:pPr>
            <a:r>
              <a:rPr lang="en-US" sz="4172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</a:t>
            </a:r>
          </a:p>
          <a:p>
            <a:pPr algn="ctr">
              <a:lnSpc>
                <a:spcPts val="5841"/>
              </a:lnSpc>
            </a:pPr>
            <a:r>
              <a:rPr lang="en-US" sz="4172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N</a:t>
            </a:r>
          </a:p>
          <a:p>
            <a:pPr algn="ctr">
              <a:lnSpc>
                <a:spcPts val="5841"/>
              </a:lnSpc>
            </a:pPr>
            <a:r>
              <a:rPr lang="en-US" sz="4172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</a:t>
            </a:r>
          </a:p>
          <a:p>
            <a:pPr algn="ctr">
              <a:lnSpc>
                <a:spcPts val="5841"/>
              </a:lnSpc>
              <a:spcBef>
                <a:spcPct val="0"/>
              </a:spcBef>
            </a:pPr>
            <a:r>
              <a:rPr lang="en-US" sz="4172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381" y="487927"/>
            <a:ext cx="9676200" cy="9799073"/>
          </a:xfrm>
          <a:custGeom>
            <a:avLst/>
            <a:gdLst/>
            <a:ahLst/>
            <a:cxnLst/>
            <a:rect l="l" t="t" r="r" b="b"/>
            <a:pathLst>
              <a:path w="9676200" h="9799073">
                <a:moveTo>
                  <a:pt x="0" y="0"/>
                </a:moveTo>
                <a:lnTo>
                  <a:pt x="9676200" y="0"/>
                </a:lnTo>
                <a:lnTo>
                  <a:pt x="9676200" y="9799073"/>
                </a:lnTo>
                <a:lnTo>
                  <a:pt x="0" y="9799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143566" y="159351"/>
            <a:ext cx="7882342" cy="1726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1"/>
              </a:lnSpc>
              <a:spcBef>
                <a:spcPct val="0"/>
              </a:spcBef>
            </a:pPr>
            <a:r>
              <a:rPr lang="en-US" sz="3272" b="1">
                <a:solidFill>
                  <a:srgbClr val="010101"/>
                </a:solidFill>
                <a:latin typeface="Lora Bold"/>
                <a:ea typeface="Lora Bold"/>
                <a:cs typeface="Lora Bold"/>
                <a:sym typeface="Lora Bold"/>
              </a:rPr>
              <a:t> Univariate Analysis</a:t>
            </a:r>
            <a:r>
              <a:rPr lang="en-US" sz="3272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means the analysis of a single variable (or column) in a dataset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27064" y="2188760"/>
            <a:ext cx="7000101" cy="753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3288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Here I’ve took the columns which uniquely has values </a:t>
            </a:r>
          </a:p>
          <a:p>
            <a:pPr algn="ctr">
              <a:lnSpc>
                <a:spcPts val="4604"/>
              </a:lnSpc>
            </a:pPr>
            <a:r>
              <a:rPr lang="en-US" sz="3288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I’ve found 4  columns as such</a:t>
            </a:r>
          </a:p>
          <a:p>
            <a:pPr algn="ctr">
              <a:lnSpc>
                <a:spcPts val="4604"/>
              </a:lnSpc>
            </a:pPr>
            <a:r>
              <a:rPr lang="en-US" sz="3288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   CODE_GENDER</a:t>
            </a:r>
          </a:p>
          <a:p>
            <a:pPr algn="ctr">
              <a:lnSpc>
                <a:spcPts val="4604"/>
              </a:lnSpc>
            </a:pPr>
            <a:r>
              <a:rPr lang="en-US" sz="3288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NAME_FAMILY_STATUS</a:t>
            </a:r>
          </a:p>
          <a:p>
            <a:pPr algn="ctr">
              <a:lnSpc>
                <a:spcPts val="4604"/>
              </a:lnSpc>
            </a:pPr>
            <a:r>
              <a:rPr lang="en-US" sz="3288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NAME_EDUCATION_TYPE</a:t>
            </a:r>
          </a:p>
          <a:p>
            <a:pPr algn="ctr">
              <a:lnSpc>
                <a:spcPts val="4604"/>
              </a:lnSpc>
            </a:pPr>
            <a:r>
              <a:rPr lang="en-US" sz="3288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OCCUPATION_TYPE</a:t>
            </a:r>
          </a:p>
          <a:p>
            <a:pPr algn="ctr">
              <a:lnSpc>
                <a:spcPts val="4604"/>
              </a:lnSpc>
              <a:spcBef>
                <a:spcPct val="0"/>
              </a:spcBef>
            </a:pPr>
            <a:r>
              <a:rPr lang="en-US" sz="3288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and done filtered out column to know variables and calculated  total, non defaulters &amp; defaulters with countif and also used graphical tool to understand more precisely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9264" y="2309786"/>
            <a:ext cx="16969472" cy="7145951"/>
          </a:xfrm>
          <a:custGeom>
            <a:avLst/>
            <a:gdLst/>
            <a:ahLst/>
            <a:cxnLst/>
            <a:rect l="l" t="t" r="r" b="b"/>
            <a:pathLst>
              <a:path w="16969472" h="7145951">
                <a:moveTo>
                  <a:pt x="0" y="0"/>
                </a:moveTo>
                <a:lnTo>
                  <a:pt x="16969472" y="0"/>
                </a:lnTo>
                <a:lnTo>
                  <a:pt x="16969472" y="7145952"/>
                </a:lnTo>
                <a:lnTo>
                  <a:pt x="0" y="7145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52" b="-135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272063"/>
            <a:ext cx="18288000" cy="143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1"/>
              </a:lnSpc>
              <a:spcBef>
                <a:spcPct val="0"/>
              </a:spcBef>
            </a:pPr>
            <a:r>
              <a:rPr lang="en-US" sz="4172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Segmented Univariate analysis</a:t>
            </a:r>
            <a:r>
              <a:rPr lang="en-US" sz="417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can be used to find summary of a single data variable in form of segments/groups.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7898" y="3385811"/>
            <a:ext cx="16431402" cy="6901189"/>
          </a:xfrm>
          <a:custGeom>
            <a:avLst/>
            <a:gdLst/>
            <a:ahLst/>
            <a:cxnLst/>
            <a:rect l="l" t="t" r="r" b="b"/>
            <a:pathLst>
              <a:path w="16431402" h="6901189">
                <a:moveTo>
                  <a:pt x="0" y="0"/>
                </a:moveTo>
                <a:lnTo>
                  <a:pt x="16431402" y="0"/>
                </a:lnTo>
                <a:lnTo>
                  <a:pt x="16431402" y="6901189"/>
                </a:lnTo>
                <a:lnTo>
                  <a:pt x="0" y="69011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137089"/>
            <a:ext cx="18288000" cy="131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1"/>
              </a:lnSpc>
              <a:spcBef>
                <a:spcPct val="0"/>
              </a:spcBef>
            </a:pPr>
            <a:r>
              <a:rPr lang="en-US" sz="3772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Bivariate analysis</a:t>
            </a:r>
            <a:r>
              <a:rPr lang="en-US" sz="377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is a statistical method used to investigate the relationship between two variables.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5843" y="1442025"/>
            <a:ext cx="17655512" cy="194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2"/>
              </a:lnSpc>
              <a:spcBef>
                <a:spcPct val="0"/>
              </a:spcBef>
            </a:pPr>
            <a:r>
              <a:rPr lang="en-US" sz="372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Here client total income ,annual income &amp; amount of credit is  interlinked calculated average with average excel function &amp;used clusted bar &amp;line chart to represent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7054" y="4589849"/>
            <a:ext cx="15493892" cy="5577801"/>
          </a:xfrm>
          <a:custGeom>
            <a:avLst/>
            <a:gdLst/>
            <a:ahLst/>
            <a:cxnLst/>
            <a:rect l="l" t="t" r="r" b="b"/>
            <a:pathLst>
              <a:path w="15493892" h="5577801">
                <a:moveTo>
                  <a:pt x="0" y="0"/>
                </a:moveTo>
                <a:lnTo>
                  <a:pt x="15493892" y="0"/>
                </a:lnTo>
                <a:lnTo>
                  <a:pt x="15493892" y="5577801"/>
                </a:lnTo>
                <a:lnTo>
                  <a:pt x="0" y="5577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66596" y="-54067"/>
            <a:ext cx="15201144" cy="703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1"/>
              </a:lnSpc>
              <a:spcBef>
                <a:spcPct val="0"/>
              </a:spcBef>
            </a:pPr>
            <a:r>
              <a:rPr lang="en-US" sz="4172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Top Correlations for Different Scenarios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763882"/>
            <a:ext cx="18440887" cy="3637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1"/>
              </a:lnSpc>
            </a:pPr>
            <a:r>
              <a:rPr lang="en-US" sz="4172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Scenario:1</a:t>
            </a:r>
          </a:p>
          <a:p>
            <a:pPr algn="ctr">
              <a:lnSpc>
                <a:spcPts val="5841"/>
              </a:lnSpc>
            </a:pPr>
            <a:r>
              <a:rPr lang="en-US" sz="417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we’ll select some of the columns with target column to find out correlation between them, first with non defaulters(0)who are paying on time</a:t>
            </a:r>
          </a:p>
          <a:p>
            <a:pPr algn="ctr">
              <a:lnSpc>
                <a:spcPts val="5841"/>
              </a:lnSpc>
              <a:spcBef>
                <a:spcPct val="0"/>
              </a:spcBef>
            </a:pPr>
            <a:r>
              <a:rPr lang="en-US" sz="417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calculated correlation with excel function CORREL(Array1,Array2) and found out top 3 correlation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83477" y="7734387"/>
            <a:ext cx="4975823" cy="2981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4"/>
              </a:lnSpc>
            </a:pPr>
            <a:r>
              <a:rPr lang="en-US" sz="338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Highlighted perfect positive correlation as well as next top 3 correlations</a:t>
            </a:r>
          </a:p>
          <a:p>
            <a:pPr algn="ctr">
              <a:lnSpc>
                <a:spcPts val="4734"/>
              </a:lnSpc>
              <a:spcBef>
                <a:spcPct val="0"/>
              </a:spcBef>
            </a:pPr>
            <a:endParaRPr lang="en-US" sz="3381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069" y="4552953"/>
            <a:ext cx="17807862" cy="5362751"/>
          </a:xfrm>
          <a:custGeom>
            <a:avLst/>
            <a:gdLst/>
            <a:ahLst/>
            <a:cxnLst/>
            <a:rect l="l" t="t" r="r" b="b"/>
            <a:pathLst>
              <a:path w="17807862" h="5362751">
                <a:moveTo>
                  <a:pt x="0" y="0"/>
                </a:moveTo>
                <a:lnTo>
                  <a:pt x="17807862" y="0"/>
                </a:lnTo>
                <a:lnTo>
                  <a:pt x="17807862" y="5362750"/>
                </a:lnTo>
                <a:lnTo>
                  <a:pt x="0" y="536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3" t="-3004" r="-64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315745"/>
            <a:ext cx="18288000" cy="562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9"/>
              </a:lnSpc>
            </a:pPr>
            <a:r>
              <a:rPr lang="en-US" sz="4021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scenario 2:</a:t>
            </a:r>
          </a:p>
          <a:p>
            <a:pPr algn="ctr">
              <a:lnSpc>
                <a:spcPts val="5629"/>
              </a:lnSpc>
            </a:pPr>
            <a:r>
              <a:rPr lang="en-US" sz="402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we’ll select some of the columns with target column to find out correlation between them, next with defaulters(1)who are having issues regarding payment</a:t>
            </a:r>
          </a:p>
          <a:p>
            <a:pPr algn="ctr">
              <a:lnSpc>
                <a:spcPts val="5629"/>
              </a:lnSpc>
            </a:pPr>
            <a:r>
              <a:rPr lang="en-US" sz="402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calculated correlation with excel function CORREL(Array1,Array2) and found out top 3 correlation</a:t>
            </a:r>
          </a:p>
          <a:p>
            <a:pPr algn="ctr">
              <a:lnSpc>
                <a:spcPts val="5629"/>
              </a:lnSpc>
            </a:pPr>
            <a:endParaRPr lang="en-US" sz="4021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5629"/>
              </a:lnSpc>
              <a:spcBef>
                <a:spcPct val="0"/>
              </a:spcBef>
            </a:pPr>
            <a:endParaRPr lang="en-US" sz="4021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069959" y="7606511"/>
            <a:ext cx="4444764" cy="2443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8"/>
              </a:lnSpc>
              <a:spcBef>
                <a:spcPct val="0"/>
              </a:spcBef>
            </a:pPr>
            <a:r>
              <a:rPr lang="en-US" sz="350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Highlighted perfect positive correlation as well as next top 3 correlations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853</Words>
  <Application>Microsoft Office PowerPoint</Application>
  <PresentationFormat>Custom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Lora</vt:lpstr>
      <vt:lpstr>Arial</vt:lpstr>
      <vt:lpstr>Calibri</vt:lpstr>
      <vt:lpstr>Lora Bold</vt:lpstr>
      <vt:lpstr>Dream Avenue</vt:lpstr>
      <vt:lpstr>TAN Pearl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CASE STUDY</dc:title>
  <cp:lastModifiedBy>satyanarayana muthyam</cp:lastModifiedBy>
  <cp:revision>2</cp:revision>
  <dcterms:created xsi:type="dcterms:W3CDTF">2006-08-16T00:00:00Z</dcterms:created>
  <dcterms:modified xsi:type="dcterms:W3CDTF">2024-12-13T11:47:47Z</dcterms:modified>
  <dc:identifier>DAGZFRmfuGA</dc:identifier>
</cp:coreProperties>
</file>